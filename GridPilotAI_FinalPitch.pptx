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698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B8D4"/>
                </a:solidFill>
                <a:latin typeface="Aptos"/>
              </a:rPr>
              <a:t>01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0000"/>
            <a:ext cx="109728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800" b="1" i="0">
                <a:solidFill>
                  <a:srgbClr val="102B3F"/>
                </a:solidFill>
                <a:latin typeface="Aptos"/>
              </a:rPr>
              <a:t>Solar peaks at noon. Bills peak in the evening.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70000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17580"/>
                </a:solidFill>
                <a:latin typeface="Aptos"/>
              </a:rPr>
              <a:t>IMPACT TANK '26  /  FINAL PITCH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1000"/>
            <a:ext cx="48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61758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50000"/>
            <a:ext cx="5150000" cy="2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1500" b="0" i="0">
                <a:solidFill>
                  <a:srgbClr val="617580"/>
                </a:solidFill>
                <a:latin typeface="Aptos"/>
              </a:rPr>
              <a:t>C&amp;I buildings with solar + battery: offices, hotels, hospitals, factories.</a:t>
            </a:r>
          </a:p>
          <a:p>
            <a:pPr algn="l" marL="201168" indent="-201168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1500" b="0" i="0">
                <a:solidFill>
                  <a:srgbClr val="617580"/>
                </a:solidFill>
                <a:latin typeface="Aptos"/>
              </a:rPr>
              <a:t>Assets run independently — no system decides hour-by-hour whether to store, use, or buy power.</a:t>
            </a:r>
          </a:p>
          <a:p>
            <a:pPr algn="l" marL="201168" indent="-201168">
              <a:lnSpc>
                <a:spcPct val="135000"/>
              </a:lnSpc>
              <a:spcAft>
                <a:spcPts val="1600"/>
              </a:spcAft>
              <a:buFont typeface="Arial"/>
              <a:buChar char="•"/>
            </a:pPr>
            <a:r>
              <a:rPr sz="1500" b="0" i="0">
                <a:solidFill>
                  <a:srgbClr val="617580"/>
                </a:solidFill>
                <a:latin typeface="Aptos"/>
              </a:rPr>
              <a:t>Result: wasted midday solar, expensive grid import at the 6–10 PM peak.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550000"/>
            <a:ext cx="5150000" cy="1500000"/>
          </a:xfrm>
          <a:prstGeom prst="roundRect">
            <a:avLst>
              <a:gd name="adj" fmla="val 5000"/>
            </a:avLst>
          </a:prstGeom>
          <a:solidFill>
            <a:srgbClr val="10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928" y="4720000"/>
            <a:ext cx="4650000" cy="1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B8E84B"/>
                </a:solidFill>
                <a:latin typeface="Aptos"/>
              </a:rPr>
              <a:t>40%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Aptos"/>
              </a:rPr>
              <a:t>of China's solar is now distributed — with grid congestion in 11 provinces (IEA, 2024). India just opened its own VPP policy path.</a:t>
            </a:r>
          </a:p>
        </p:txBody>
      </p:sp>
      <p:pic>
        <p:nvPicPr>
          <p:cNvPr id="11" name="Picture 10" descr="chart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000" y="1420000"/>
            <a:ext cx="5480000" cy="274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50000" y="5680000"/>
            <a:ext cx="548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17580"/>
                </a:solidFill>
                <a:latin typeface="Aptos"/>
              </a:rPr>
              <a:t>Actual synthetic-day output from the GridPilot AI model — solar (orange) vs. demand (navy).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698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B8D4"/>
                </a:solidFill>
                <a:latin typeface="Aptos"/>
              </a:rPr>
              <a:t>02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0000"/>
            <a:ext cx="109728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800" b="1" i="0">
                <a:solidFill>
                  <a:srgbClr val="102B3F"/>
                </a:solidFill>
                <a:latin typeface="Aptos"/>
              </a:rPr>
              <a:t>GridPilot AI decides, hour by hour, what the battery should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70000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17580"/>
                </a:solidFill>
                <a:latin typeface="Aptos"/>
              </a:rPr>
              <a:t>IMPACT TANK '26  /  FINAL PITCH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1000"/>
            <a:ext cx="48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617580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80000"/>
            <a:ext cx="5150000" cy="2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25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617580"/>
                </a:solidFill>
                <a:latin typeface="Aptos"/>
              </a:rPr>
              <a:t>Reads a building's hourly demand, solar, and electricity tariff.</a:t>
            </a:r>
          </a:p>
          <a:p>
            <a:pPr algn="l" marL="201168" indent="-201168">
              <a:lnSpc>
                <a:spcPct val="125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617580"/>
                </a:solidFill>
                <a:latin typeface="Aptos"/>
              </a:rPr>
              <a:t>Solves a linear program to pick grid import vs. battery charge/discharge for every hour — minimizing cost under real battery physics.</a:t>
            </a:r>
          </a:p>
          <a:p>
            <a:pPr algn="l" marL="201168" indent="-201168">
              <a:lnSpc>
                <a:spcPct val="125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617580"/>
                </a:solidFill>
                <a:latin typeface="Aptos"/>
              </a:rPr>
              <a:t>Works with any Indian DISCOM ToU tariff, not fixed presets.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50000"/>
            <a:ext cx="5150000" cy="2000000"/>
          </a:xfrm>
          <a:prstGeom prst="roundRect">
            <a:avLst>
              <a:gd name="adj" fmla="val 5000"/>
            </a:avLst>
          </a:prstGeom>
          <a:solidFill>
            <a:srgbClr val="10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928" y="4220000"/>
            <a:ext cx="4650000" cy="1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E84B"/>
                </a:solidFill>
                <a:latin typeface="Aptos"/>
              </a:rPr>
              <a:t>Why it matters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FFFFF"/>
                </a:solidFill>
                <a:latin typeface="Aptos"/>
              </a:rPr>
              <a:t>Level 1 of a 4-level path: solar+battery → EVs/appliances → grid flexibility → virtual power plant.</a:t>
            </a:r>
          </a:p>
        </p:txBody>
      </p:sp>
      <p:pic>
        <p:nvPicPr>
          <p:cNvPr id="11" name="Picture 10" descr="chart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000" y="1480000"/>
            <a:ext cx="5480000" cy="2323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50000" y="4050000"/>
            <a:ext cx="548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17580"/>
                </a:solidFill>
                <a:latin typeface="Aptos"/>
              </a:rPr>
              <a:t>Modeled savings across all 5 standard test scenarios.</a:t>
            </a:r>
          </a:p>
        </p:txBody>
      </p:sp>
      <p:pic>
        <p:nvPicPr>
          <p:cNvPr id="13" name="Picture 12" descr="chart_s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000" y="4450000"/>
            <a:ext cx="5480000" cy="15486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698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B8D4"/>
                </a:solidFill>
                <a:latin typeface="Aptos"/>
              </a:rPr>
              <a:t>03 /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0000"/>
            <a:ext cx="109728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800" b="1" i="0">
                <a:solidFill>
                  <a:srgbClr val="102B3F"/>
                </a:solidFill>
                <a:latin typeface="Aptos"/>
              </a:rPr>
              <a:t>Four inspectable stages, start to finish.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70000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17580"/>
                </a:solidFill>
                <a:latin typeface="Aptos"/>
              </a:rPr>
              <a:t>IMPACT TANK '26  /  FINAL PITCH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1000"/>
            <a:ext cx="48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617580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464" y="1700000"/>
            <a:ext cx="2350000" cy="1750000"/>
          </a:xfrm>
          <a:prstGeom prst="roundRect">
            <a:avLst>
              <a:gd name="adj" fmla="val 8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3464" y="1700000"/>
            <a:ext cx="2350000" cy="90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3464" y="1930000"/>
            <a:ext cx="199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02B3F"/>
                </a:solidFill>
                <a:latin typeface="Aptos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3464" y="2340000"/>
            <a:ext cx="199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Hourly demand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Solar generation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Electricity tariff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3464" y="2575000"/>
            <a:ext cx="270000" cy="0"/>
          </a:xfrm>
          <a:prstGeom prst="bentConnector3">
            <a:avLst/>
          </a:prstGeom>
          <a:ln w="27940">
            <a:solidFill>
              <a:srgbClr val="6175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83464" y="1700000"/>
            <a:ext cx="2350000" cy="1750000"/>
          </a:xfrm>
          <a:prstGeom prst="roundRect">
            <a:avLst>
              <a:gd name="adj" fmla="val 8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3464" y="1700000"/>
            <a:ext cx="2350000" cy="90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3464" y="1930000"/>
            <a:ext cx="199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02B3F"/>
                </a:solidFill>
                <a:latin typeface="Aptos"/>
              </a:rPr>
              <a:t>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3464" y="2340000"/>
            <a:ext cx="199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Power limits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SOC bounds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Terminal SOC rule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63464" y="2575000"/>
            <a:ext cx="270000" cy="0"/>
          </a:xfrm>
          <a:prstGeom prst="bentConnector3">
            <a:avLst/>
          </a:prstGeom>
          <a:ln w="27940">
            <a:solidFill>
              <a:srgbClr val="6175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63464" y="1700000"/>
            <a:ext cx="2350000" cy="1750000"/>
          </a:xfrm>
          <a:prstGeom prst="roundRect">
            <a:avLst>
              <a:gd name="adj" fmla="val 8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464" y="1700000"/>
            <a:ext cx="2350000" cy="90000"/>
          </a:xfrm>
          <a:prstGeom prst="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3464" y="1930000"/>
            <a:ext cx="199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02B3F"/>
                </a:solidFill>
                <a:latin typeface="Aptos"/>
              </a:rPr>
              <a:t>SOLVER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3464" y="2340000"/>
            <a:ext cx="199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SciPy linprog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(HiGHS)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Minimize cost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43464" y="2575000"/>
            <a:ext cx="270000" cy="0"/>
          </a:xfrm>
          <a:prstGeom prst="bentConnector3">
            <a:avLst/>
          </a:prstGeom>
          <a:ln w="27940">
            <a:solidFill>
              <a:srgbClr val="6175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843464" y="1700000"/>
            <a:ext cx="2350000" cy="1750000"/>
          </a:xfrm>
          <a:prstGeom prst="roundRect">
            <a:avLst>
              <a:gd name="adj" fmla="val 8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43464" y="1700000"/>
            <a:ext cx="2350000" cy="90000"/>
          </a:xfrm>
          <a:prstGeom prst="rect">
            <a:avLst/>
          </a:prstGeom>
          <a:solidFill>
            <a:srgbClr val="1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3464" y="1930000"/>
            <a:ext cx="1990000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02B3F"/>
                </a:solidFill>
                <a:latin typeface="Apto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3464" y="2340000"/>
            <a:ext cx="199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Grid import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Charge / discharge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 i="0">
                <a:solidFill>
                  <a:srgbClr val="617580"/>
                </a:solidFill>
                <a:latin typeface="Aptos"/>
              </a:rPr>
              <a:t>SOC + ₹ savings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50000"/>
            <a:ext cx="10863072" cy="1150000"/>
          </a:xfrm>
          <a:prstGeom prst="roundRect">
            <a:avLst>
              <a:gd name="adj" fmla="val 5000"/>
            </a:avLst>
          </a:prstGeom>
          <a:solidFill>
            <a:srgbClr val="10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28" y="4020000"/>
            <a:ext cx="10223072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E84B"/>
                </a:solidFill>
                <a:latin typeface="Aptos"/>
              </a:rPr>
              <a:t>Every output is re-checked independently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Aptos"/>
              </a:rPr>
              <a:t>validate_physical_schedule() re-verifies energy balance, SOC bounds and the terminal-SOC rule before any number reaches the dashboard.</a:t>
            </a:r>
          </a:p>
        </p:txBody>
      </p:sp>
      <p:pic>
        <p:nvPicPr>
          <p:cNvPr id="29" name="Picture 28" descr="chart_p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893" y="5160000"/>
            <a:ext cx="3877142" cy="11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698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B8D4"/>
                </a:solidFill>
                <a:latin typeface="Aptos"/>
              </a:rPr>
              <a:t>04 / LIVE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0000"/>
            <a:ext cx="109728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800" b="1" i="0">
                <a:solidFill>
                  <a:srgbClr val="102B3F"/>
                </a:solidFill>
                <a:latin typeface="Aptos"/>
              </a:rPr>
              <a:t>Runnable today — not a mockup.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70000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17580"/>
                </a:solidFill>
                <a:latin typeface="Aptos"/>
              </a:rPr>
              <a:t>IMPACT TANK '26  /  FINAL PITCH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1000"/>
            <a:ext cx="48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617580"/>
                </a:solidFill>
                <a:latin typeface="Aptos"/>
              </a:rPr>
              <a:t>04</a:t>
            </a:r>
          </a:p>
        </p:txBody>
      </p:sp>
      <p:pic>
        <p:nvPicPr>
          <p:cNvPr id="8" name="Picture 7" descr="chart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0000"/>
            <a:ext cx="5280000" cy="206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200000"/>
            <a:ext cx="528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17580"/>
                </a:solidFill>
                <a:latin typeface="Aptos"/>
              </a:rPr>
              <a:t>Actual terminal output, this session: 7/7 tests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0000" y="1480000"/>
            <a:ext cx="4663072" cy="26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0000" y="1680000"/>
            <a:ext cx="4150000" cy="2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B7A8C"/>
                </a:solidFill>
                <a:latin typeface="Aptos"/>
              </a:rPr>
              <a:t>poetry run streamlit run app.py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0000" y="2200000"/>
            <a:ext cx="415000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617580"/>
                </a:solidFill>
                <a:latin typeface="Aptos"/>
              </a:rPr>
              <a:t>Pick any of 5 scenarios or set a custom battery + tariff.</a:t>
            </a:r>
          </a:p>
          <a:p>
            <a:pPr algn="l" marL="201168" indent="-201168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617580"/>
                </a:solidFill>
                <a:latin typeface="Aptos"/>
              </a:rPr>
              <a:t>See the optimized 24h schedule, Sankey energy flow, and savings waterfall instantly.</a:t>
            </a:r>
          </a:p>
          <a:p>
            <a:pPr algn="l" marL="201168" indent="-201168">
              <a:lnSpc>
                <a:spcPct val="130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617580"/>
                </a:solidFill>
                <a:latin typeface="Aptos"/>
              </a:rPr>
              <a:t>Download the hourly schedule as 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600000"/>
            <a:ext cx="10863072" cy="1450000"/>
          </a:xfrm>
          <a:prstGeom prst="roundRect">
            <a:avLst>
              <a:gd name="adj" fmla="val 5000"/>
            </a:avLst>
          </a:prstGeom>
          <a:solidFill>
            <a:srgbClr val="10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28" y="4780000"/>
            <a:ext cx="10223072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E84B"/>
                </a:solidFill>
                <a:latin typeface="Aptos"/>
              </a:rPr>
              <a:t>Stated up front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Aptos"/>
              </a:rPr>
              <a:t>All inputs are SYNTHETIC — nothing is wired to a live meter, tariff feed, or real battery yet. Single building, single day horizon; no demand charges or degradation modeled.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698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B8D4"/>
                </a:solidFill>
                <a:latin typeface="Aptos"/>
              </a:rPr>
              <a:t>05 /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0000"/>
            <a:ext cx="109728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800" b="1" i="0">
                <a:solidFill>
                  <a:srgbClr val="102B3F"/>
                </a:solidFill>
                <a:latin typeface="Aptos"/>
              </a:rPr>
              <a:t>Software correctness: proven. Field validation: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70000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17580"/>
                </a:solidFill>
                <a:latin typeface="Aptos"/>
              </a:rPr>
              <a:t>IMPACT TANK '26  /  FINAL PITCH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1000"/>
            <a:ext cx="48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617580"/>
                </a:solidFill>
                <a:latin typeface="Aptos"/>
              </a:rP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1540000"/>
            <a:ext cx="360000" cy="360000"/>
          </a:xfrm>
          <a:prstGeom prst="ellipse">
            <a:avLst/>
          </a:prstGeom>
          <a:solidFill>
            <a:srgbClr val="1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40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928" y="1480000"/>
            <a:ext cx="4781536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02B3F"/>
                </a:solidFill>
                <a:latin typeface="Aptos"/>
              </a:rPr>
              <a:t>All 5 scenarios pass physical validation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148464" y="1540000"/>
            <a:ext cx="360000" cy="360000"/>
          </a:xfrm>
          <a:prstGeom prst="ellipse">
            <a:avLst/>
          </a:prstGeom>
          <a:solidFill>
            <a:srgbClr val="1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8464" y="1540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8464" y="1480000"/>
            <a:ext cx="4781536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02B3F"/>
                </a:solidFill>
                <a:latin typeface="Aptos"/>
              </a:rPr>
              <a:t>Flat prices → no fake arbitrage (round-trip losses respected)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2160000"/>
            <a:ext cx="360000" cy="360000"/>
          </a:xfrm>
          <a:prstGeom prst="ellipse">
            <a:avLst/>
          </a:prstGeom>
          <a:solidFill>
            <a:srgbClr val="1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160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928" y="2100000"/>
            <a:ext cx="4781536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02B3F"/>
                </a:solidFill>
                <a:latin typeface="Aptos"/>
              </a:rPr>
              <a:t>High evening tariff beats normal tariff, as it should</a:t>
            </a:r>
          </a:p>
        </p:txBody>
      </p:sp>
      <p:sp>
        <p:nvSpPr>
          <p:cNvPr id="17" name="Oval 16"/>
          <p:cNvSpPr/>
          <p:nvPr/>
        </p:nvSpPr>
        <p:spPr>
          <a:xfrm>
            <a:off x="6148464" y="2160000"/>
            <a:ext cx="360000" cy="360000"/>
          </a:xfrm>
          <a:prstGeom prst="ellipse">
            <a:avLst/>
          </a:prstGeom>
          <a:solidFill>
            <a:srgbClr val="1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8464" y="2160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8464" y="2100000"/>
            <a:ext cx="4781536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02B3F"/>
                </a:solidFill>
                <a:latin typeface="Aptos"/>
              </a:rPr>
              <a:t>Zero battery → exactly ₹0 savings (sanity check)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2780000"/>
            <a:ext cx="360000" cy="360000"/>
          </a:xfrm>
          <a:prstGeom prst="ellipse">
            <a:avLst/>
          </a:prstGeom>
          <a:solidFill>
            <a:srgbClr val="1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780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928" y="2720000"/>
            <a:ext cx="4781536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02B3F"/>
                </a:solidFill>
                <a:latin typeface="Aptos"/>
              </a:rPr>
              <a:t>Terminal-SOC rule blocks fake “free energy” savings</a:t>
            </a:r>
          </a:p>
        </p:txBody>
      </p:sp>
      <p:sp>
        <p:nvSpPr>
          <p:cNvPr id="23" name="Oval 22"/>
          <p:cNvSpPr/>
          <p:nvPr/>
        </p:nvSpPr>
        <p:spPr>
          <a:xfrm>
            <a:off x="6148464" y="2780000"/>
            <a:ext cx="360000" cy="360000"/>
          </a:xfrm>
          <a:prstGeom prst="ellipse">
            <a:avLst/>
          </a:prstGeom>
          <a:solidFill>
            <a:srgbClr val="1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8464" y="2780000"/>
            <a:ext cx="360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8464" y="2720000"/>
            <a:ext cx="4781536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02B3F"/>
                </a:solidFill>
                <a:latin typeface="Aptos"/>
              </a:rPr>
              <a:t>Custom DISCOM tariffs flow through unmodified</a:t>
            </a:r>
          </a:p>
        </p:txBody>
      </p:sp>
      <p:pic>
        <p:nvPicPr>
          <p:cNvPr id="26" name="Picture 25" descr="chart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400000"/>
            <a:ext cx="5280000" cy="2066087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5950000" y="3400000"/>
            <a:ext cx="4913072" cy="21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0000" y="3580000"/>
            <a:ext cx="4400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C8A5A"/>
                </a:solidFill>
                <a:latin typeface="Aptos"/>
              </a:rPr>
              <a:t>7 / 7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617580"/>
                </a:solidFill>
                <a:latin typeface="Aptos"/>
              </a:rPr>
              <a:t>automated tests pass, re-run live this session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17580"/>
                </a:solidFill>
                <a:latin typeface="Aptos"/>
              </a:rPr>
              <a:t>Not yet validated: real customer data, a live pilot, or facility-manager interviews. That's the next slide, not a claim made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698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B8D4"/>
                </a:solidFill>
                <a:latin typeface="Aptos"/>
              </a:rPr>
              <a:t>06 / 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0000"/>
            <a:ext cx="109728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800" b="1" i="0">
                <a:solidFill>
                  <a:srgbClr val="102B3F"/>
                </a:solidFill>
                <a:latin typeface="Aptos"/>
              </a:rPr>
              <a:t>Every alternative is siloed, foreign-market, or supply-side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70000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17580"/>
                </a:solidFill>
                <a:latin typeface="Aptos"/>
              </a:rPr>
              <a:t>IMPACT TANK '26  /  FINAL PITCH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1000"/>
            <a:ext cx="48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617580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50000"/>
            <a:ext cx="10863072" cy="420000"/>
          </a:xfrm>
          <a:prstGeom prst="rect">
            <a:avLst/>
          </a:prstGeom>
          <a:solidFill>
            <a:srgbClr val="10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928" y="1550000"/>
            <a:ext cx="255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E84B"/>
                </a:solidFill>
                <a:latin typeface="Aptos"/>
              </a:rP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6928" y="1550000"/>
            <a:ext cx="35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E84B"/>
                </a:solidFill>
                <a:latin typeface="Aptos"/>
              </a:rPr>
              <a:t>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6928" y="1550000"/>
            <a:ext cx="4213072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8E84B"/>
                </a:solidFill>
                <a:latin typeface="Aptos"/>
              </a:rPr>
              <a:t>LIMITATION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70000"/>
            <a:ext cx="10863072" cy="6800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928" y="1970000"/>
            <a:ext cx="255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B3F"/>
                </a:solidFill>
                <a:latin typeface="Aptos"/>
              </a:rPr>
              <a:t>Vendor ecosystems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6928" y="1970000"/>
            <a:ext cx="350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Tesla Autobidder, Huawei, sonnen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6928" y="1970000"/>
            <a:ext cx="4193072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02B3F"/>
                </a:solidFill>
                <a:latin typeface="Aptos"/>
              </a:rPr>
              <a:t>Locked to their own hardware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50000"/>
            <a:ext cx="10863072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928" y="2650000"/>
            <a:ext cx="255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B3F"/>
                </a:solidFill>
                <a:latin typeface="Aptos"/>
              </a:rPr>
              <a:t>VPP / DERMS platforms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6928" y="2650000"/>
            <a:ext cx="350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EnergyHub, Leap, Kraken, Sunrun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6928" y="2650000"/>
            <a:ext cx="4193072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02B3F"/>
                </a:solidFill>
                <a:latin typeface="Aptos"/>
              </a:rPr>
              <a:t>Built for US/EU markets, not Indian ToU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330000"/>
            <a:ext cx="10863072" cy="6800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928" y="3330000"/>
            <a:ext cx="255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B3F"/>
                </a:solidFill>
                <a:latin typeface="Aptos"/>
              </a:rPr>
              <a:t>Device-level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6928" y="3330000"/>
            <a:ext cx="350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Inverter / battery / EV defaults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6928" y="3330000"/>
            <a:ext cx="4193072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02B3F"/>
                </a:solidFill>
                <a:latin typeface="Aptos"/>
              </a:rPr>
              <a:t>Each device only sees itself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010000"/>
            <a:ext cx="10863072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6928" y="4010000"/>
            <a:ext cx="255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B3F"/>
                </a:solidFill>
                <a:latin typeface="Aptos"/>
              </a:rPr>
              <a:t>India grid-side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6928" y="4010000"/>
            <a:ext cx="350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Transmission, BESS, pumped hydro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6928" y="4010000"/>
            <a:ext cx="4193072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02B3F"/>
                </a:solidFill>
                <a:latin typeface="Aptos"/>
              </a:rPr>
              <a:t>Supply-side, doesn't reach behind-the-meter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690000"/>
            <a:ext cx="10863072" cy="6800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928" y="4690000"/>
            <a:ext cx="255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02B3F"/>
                </a:solidFill>
                <a:latin typeface="Aptos"/>
              </a:rPr>
              <a:t>India DR + 2025 VPP 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6928" y="4690000"/>
            <a:ext cx="3500000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Early pilots, new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6928" y="4690000"/>
            <a:ext cx="4193072" cy="6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02B3F"/>
                </a:solidFill>
                <a:latin typeface="Aptos"/>
              </a:rPr>
              <a:t>No simple coordination layer yet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570000"/>
            <a:ext cx="10863072" cy="650000"/>
          </a:xfrm>
          <a:prstGeom prst="roundRect">
            <a:avLst>
              <a:gd name="adj" fmla="val 5000"/>
            </a:avLst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928" y="5570000"/>
            <a:ext cx="10263072" cy="6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Our edge: transparent, auditable, built for Indian C&amp;I ToU tariffs — hardware-agnostic.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698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B8D4"/>
                </a:solidFill>
                <a:latin typeface="Aptos"/>
              </a:rPr>
              <a:t>07 /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0000"/>
            <a:ext cx="109728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800" b="1" i="0">
                <a:solidFill>
                  <a:srgbClr val="102B3F"/>
                </a:solidFill>
                <a:latin typeface="Aptos"/>
              </a:rPr>
              <a:t>Measured honestly: observed this round vs. projected.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70000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17580"/>
                </a:solidFill>
                <a:latin typeface="Aptos"/>
              </a:rPr>
              <a:t>IMPACT TANK '26  /  FINAL PITCH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1000"/>
            <a:ext cx="48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617580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0000"/>
            <a:ext cx="2528268" cy="19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480000"/>
            <a:ext cx="2528268" cy="80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6928" y="1680000"/>
            <a:ext cx="2288268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20B8D4"/>
                </a:solidFill>
                <a:latin typeface="Aptos"/>
              </a:rPr>
              <a:t>17.5%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928" y="2550000"/>
            <a:ext cx="2288268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peak modeled savings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(high evening tariff)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5196" y="1480000"/>
            <a:ext cx="2528268" cy="19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5196" y="1480000"/>
            <a:ext cx="2528268" cy="80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5196" y="1680000"/>
            <a:ext cx="2288268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B7A8C"/>
                </a:solidFill>
                <a:latin typeface="Aptos"/>
              </a:rPr>
              <a:t>20 kW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196" y="2550000"/>
            <a:ext cx="2288268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evening-peak grid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import shaved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3464" y="1480000"/>
            <a:ext cx="2528268" cy="19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3464" y="1480000"/>
            <a:ext cx="2528268" cy="80000"/>
          </a:xfrm>
          <a:prstGeom prst="rect">
            <a:avLst/>
          </a:prstGeom>
          <a:solidFill>
            <a:srgbClr val="1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3464" y="1680000"/>
            <a:ext cx="2288268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C8A5A"/>
                </a:solidFill>
                <a:latin typeface="Aptos"/>
              </a:rPr>
              <a:t>7 /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3464" y="2550000"/>
            <a:ext cx="2288268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automated tests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passing today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1732" y="1480000"/>
            <a:ext cx="2528268" cy="19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01732" y="1480000"/>
            <a:ext cx="2528268" cy="80000"/>
          </a:xfrm>
          <a:prstGeom prst="rect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1732" y="1680000"/>
            <a:ext cx="2288268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7C5CE0"/>
                </a:solidFill>
                <a:latin typeface="Aptos"/>
              </a:rPr>
              <a:t>₹0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1732" y="2550000"/>
            <a:ext cx="2288268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fake savings — blocked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by terminal-SOC rule</a:t>
            </a:r>
          </a:p>
        </p:txBody>
      </p:sp>
      <p:pic>
        <p:nvPicPr>
          <p:cNvPr id="24" name="Picture 23" descr="chart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00000"/>
            <a:ext cx="5280000" cy="2238261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950000" y="3700000"/>
            <a:ext cx="4913072" cy="2500000"/>
          </a:xfrm>
          <a:prstGeom prst="roundRect">
            <a:avLst>
              <a:gd name="adj" fmla="val 5000"/>
            </a:avLst>
          </a:prstGeom>
          <a:solidFill>
            <a:srgbClr val="10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0000" y="3900000"/>
            <a:ext cx="4400000" cy="2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E84B"/>
                </a:solidFill>
                <a:latin typeface="Aptos"/>
              </a:rPr>
              <a:t>Observed this round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150" b="0" i="0">
                <a:solidFill>
                  <a:srgbClr val="FFFFFF"/>
                </a:solidFill>
                <a:latin typeface="Aptos"/>
              </a:rPr>
              <a:t>5 synthetic scenarios, physics-validated. Savings ₹599–₹2,471/day.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E84B"/>
                </a:solidFill>
                <a:latin typeface="Aptos"/>
              </a:rPr>
              <a:t>Projected, pending pilot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FFFFF"/>
                </a:solidFill>
                <a:latin typeface="Aptos"/>
              </a:rPr>
              <a:t>Real bill savings and kW/kWh impact on a live site, measured in the GTM pilot.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10698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B8D4"/>
                </a:solidFill>
                <a:latin typeface="Aptos"/>
              </a:rPr>
              <a:t>08 /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0000"/>
            <a:ext cx="109728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2800" b="1" i="0">
                <a:solidFill>
                  <a:srgbClr val="102B3F"/>
                </a:solidFill>
                <a:latin typeface="Aptos"/>
              </a:rPr>
              <a:t>From tested MVP to a validated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70000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617580"/>
                </a:solidFill>
                <a:latin typeface="Aptos"/>
              </a:rPr>
              <a:t>IMPACT TANK '26  /  FINAL PITCH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81000"/>
            <a:ext cx="480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61758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0000"/>
            <a:ext cx="2528268" cy="18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6928" y="1660000"/>
            <a:ext cx="420000" cy="420000"/>
          </a:xfrm>
          <a:prstGeom prst="ellipse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6928" y="166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928" y="2200000"/>
            <a:ext cx="2168268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02B3F"/>
                </a:solidFill>
                <a:latin typeface="Aptos"/>
              </a:rPr>
              <a:t>Submit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928" y="2560000"/>
            <a:ext cx="2168268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Demo video + this deck as PDF.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5196" y="1480000"/>
            <a:ext cx="2528268" cy="18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5196" y="1660000"/>
            <a:ext cx="420000" cy="420000"/>
          </a:xfrm>
          <a:prstGeom prst="ellipse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5196" y="166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5196" y="2200000"/>
            <a:ext cx="2168268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02B3F"/>
                </a:solidFill>
                <a:latin typeface="Aptos"/>
              </a:rPr>
              <a:t>1 shadow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5196" y="2560000"/>
            <a:ext cx="2168268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Real tariff + data, 1–2 weeks, no hardware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3464" y="1480000"/>
            <a:ext cx="2528268" cy="18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3464" y="1660000"/>
            <a:ext cx="420000" cy="420000"/>
          </a:xfrm>
          <a:prstGeom prst="ellipse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3464" y="166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3464" y="2200000"/>
            <a:ext cx="2168268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02B3F"/>
                </a:solidFill>
                <a:latin typeface="Aptos"/>
              </a:rPr>
              <a:t>Reconcile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3464" y="2560000"/>
            <a:ext cx="2168268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Compare vs. the site's actual utility bill.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1732" y="1480000"/>
            <a:ext cx="2528268" cy="1850000"/>
          </a:xfrm>
          <a:prstGeom prst="roundRect">
            <a:avLst>
              <a:gd name="adj" fmla="val 5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81732" y="1660000"/>
            <a:ext cx="420000" cy="420000"/>
          </a:xfrm>
          <a:prstGeom prst="ellipse">
            <a:avLst/>
          </a:prstGeom>
          <a:solidFill>
            <a:srgbClr val="0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1732" y="1660000"/>
            <a:ext cx="42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1732" y="2200000"/>
            <a:ext cx="2168268" cy="3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02B3F"/>
                </a:solidFill>
                <a:latin typeface="Aptos"/>
              </a:rPr>
              <a:t>Extend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1732" y="2560000"/>
            <a:ext cx="2168268" cy="6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17580"/>
                </a:solidFill>
                <a:latin typeface="Aptos"/>
              </a:rPr>
              <a:t>Demand charges, degradation, peak trade-off.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650000"/>
            <a:ext cx="5281536" cy="13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650000"/>
            <a:ext cx="5281536" cy="60000"/>
          </a:xfrm>
          <a:prstGeom prst="rect">
            <a:avLst/>
          </a:prstGeom>
          <a:solidFill>
            <a:srgbClr val="C0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928" y="3800000"/>
            <a:ext cx="4831536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03B2E"/>
                </a:solidFill>
                <a:latin typeface="Aptos"/>
              </a:rPr>
              <a:t>RISKS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928" y="4100000"/>
            <a:ext cx="4831536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617580"/>
                </a:solidFill>
                <a:latin typeface="Aptos"/>
              </a:rPr>
              <a:t>No pilot partner secured yet.</a:t>
            </a:r>
          </a:p>
          <a:p>
            <a:pPr algn="l" marL="201168" indent="-201168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617580"/>
                </a:solidFill>
                <a:latin typeface="Aptos"/>
              </a:rPr>
              <a:t>DISCOM tariff edge cases untested.</a:t>
            </a:r>
          </a:p>
          <a:p>
            <a:pPr algn="l" marL="201168" indent="-201168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617580"/>
                </a:solidFill>
                <a:latin typeface="Aptos"/>
              </a:rPr>
              <a:t>Cost-min doesn't guarantee peak reduction.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8464" y="3650000"/>
            <a:ext cx="5281536" cy="13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8464" y="3650000"/>
            <a:ext cx="5281536" cy="60000"/>
          </a:xfrm>
          <a:prstGeom prst="rect">
            <a:avLst/>
          </a:prstGeom>
          <a:solidFill>
            <a:srgbClr val="1C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8464" y="3800000"/>
            <a:ext cx="4831536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C8A5A"/>
                </a:solidFill>
                <a:latin typeface="Aptos"/>
              </a:rPr>
              <a:t>SUPPORT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8464" y="4100000"/>
            <a:ext cx="4831536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617580"/>
                </a:solidFill>
                <a:latin typeface="Aptos"/>
              </a:rPr>
              <a:t>Intro to a willing C&amp;I facility manager.</a:t>
            </a:r>
          </a:p>
          <a:p>
            <a:pPr algn="l" marL="201168" indent="-201168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617580"/>
                </a:solidFill>
                <a:latin typeface="Aptos"/>
              </a:rPr>
              <a:t>Real interval meter data for one building.</a:t>
            </a:r>
          </a:p>
          <a:p>
            <a:pPr algn="l" marL="201168" indent="-201168">
              <a:lnSpc>
                <a:spcPct val="120000"/>
              </a:lnSpc>
              <a:spcAft>
                <a:spcPts val="400"/>
              </a:spcAft>
              <a:buFont typeface="Arial"/>
              <a:buChar char="•"/>
            </a:pPr>
            <a:r>
              <a:rPr sz="1100" b="0" i="0">
                <a:solidFill>
                  <a:srgbClr val="617580"/>
                </a:solidFill>
                <a:latin typeface="Aptos"/>
              </a:rPr>
              <a:t>Mentorship on DISCOM tariff nuances.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250000"/>
            <a:ext cx="10863072" cy="1200000"/>
          </a:xfrm>
          <a:prstGeom prst="roundRect">
            <a:avLst>
              <a:gd name="adj" fmla="val 5000"/>
            </a:avLst>
          </a:prstGeom>
          <a:solidFill>
            <a:srgbClr val="102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28" y="5420000"/>
            <a:ext cx="10223072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B8E84B"/>
                </a:solidFill>
                <a:latin typeface="Aptos"/>
              </a:rPr>
              <a:t>GridPilot AI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Aptos"/>
              </a:rPr>
              <a:t>Priyam Pandey · Kirthi Priya M · Prashanth R — pilot outreach, model extensions, and dashboard/demo respectively.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